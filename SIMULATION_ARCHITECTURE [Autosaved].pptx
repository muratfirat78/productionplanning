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75A16-69B6-4918-94FB-B989DC21274E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390B0-FA70-4A85-AC7C-5FA8098ED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57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390B0-FA70-4A85-AC7C-5FA8098ED2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0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390B0-FA70-4A85-AC7C-5FA8098ED2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4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139A-62C0-6265-6E0D-B16A617AE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591E8-BC7F-3BC2-17F3-3403F1E9B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D690A-8920-87EB-188A-DEB502A6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94E66-A365-FC76-C179-A91EF27F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F9C0-14B4-196A-D04B-E5E1206A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B914-C1CF-BD9B-5887-396F99DA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C2C1F-1B28-2DDA-A88F-D434183D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B764-E496-4BEC-7640-B53F5F46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F92D-CC58-55F4-B57B-1192F665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3FFD-87BB-F4A5-A9BC-043A0FE5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0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97E0-8A36-6247-8AEF-B302F7E5F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C22CB-DF7D-83A8-3D12-365FB8AB3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4D276-C253-4F8F-0C5D-48A1978B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4A3EB-87C0-99EB-850A-45DECEF6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BABA-480D-FD81-0AEB-7386E1F3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70CA-6D1C-8BEB-D1E2-1DF4F253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0636E-9FFE-7BB4-3177-D51373620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4BA30-0FA4-8B28-F043-A34D33A00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2EB34-67EE-884C-B0AF-ABAD3BAD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5C519-7DAE-77AE-EF33-133B563E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006E3-6451-4A8E-1CCE-48BC3EC5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1422-3833-BCE0-E8DA-6FDC476B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4012-A721-FEF8-9B3D-E5A66652F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C9FF5-35D7-E84C-2C40-30A78B42F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8E330-0804-8074-3794-DB3351E22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9FDDA-DAFA-1FBD-5869-A66B9BE74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5786B-1CEB-F4F0-50AD-94091079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8875F-1469-60BF-5B11-314EFC27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6FDF3-36CC-86F9-E266-5B5ECDDE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9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E440-3341-F7FB-5E0E-F587CDF8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BCFAB-A653-2048-4BE5-81A696F9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8E5C2-92D5-9C07-CA05-23864303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540FA-DE51-8D93-052E-E2B30060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2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34306-9262-0684-9635-408F568A3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27189-BC5C-3D34-AD3E-F9AAD4A3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696CC-89FD-53CD-3AB8-F090A30D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7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DFE5-B7D6-7259-5049-B6CBAFB0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ADD2-AA2C-B695-2DA4-75569F81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3B7CC-6D95-1763-B4C6-5298FF04E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423EA-EC30-9EB3-A503-9C17FD0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1C45D-59FE-BA65-F22A-B255C85E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2450-C00C-4F0A-6F87-47034DAA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7F8E-BC7E-056A-EA1C-A7214F67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C431-D1F8-BA0D-7165-A8C16D869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C9C81-81F7-9394-84A0-F0EC9074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D1181-A478-FCAB-C116-CDC1B277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5DEDD-DA39-0A06-194F-5A629DC1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259A8-FD18-A24E-574F-C2C06F50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2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8406-1460-D2D6-58E1-A38941B1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72837-1180-CB3E-F696-B9E02B7CF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E94BC-CBF6-9AD3-180D-BAFE5A14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D96A5-15D4-2D1B-5497-BDC79EF7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28DC7-5831-2F1A-790C-151940F5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3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4AABE-3B4F-8F08-84FB-51C44193F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5178A-D900-D7F2-5769-26D9A7685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A70C-AEE7-4691-3829-79D7FF2D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32B0-C748-3992-53BC-DA0BAB53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5CAB-11B9-2F55-25F0-6C3BBAB4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2D103-43FF-B9ED-FFDF-518125D6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298D7-4CE1-8F6B-9AFC-124EED16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39B52-AF8E-EE34-D2DF-2B1673905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A5F5C-33DC-459F-BE01-7C9C8C9D5F5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1B665-C9C2-E416-0A85-ED34880DC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15518-5700-5C53-3819-65EF49675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C4569-4D77-4B03-9371-7293BBA01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022DE6-99B4-C8D7-E2C3-70F086A06CD9}"/>
              </a:ext>
            </a:extLst>
          </p:cNvPr>
          <p:cNvSpPr txBox="1"/>
          <p:nvPr/>
        </p:nvSpPr>
        <p:spPr>
          <a:xfrm>
            <a:off x="5630778" y="860258"/>
            <a:ext cx="520820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Simulator</a:t>
            </a:r>
          </a:p>
          <a:p>
            <a:r>
              <a:rPr lang="en-US" dirty="0"/>
              <a:t>     </a:t>
            </a:r>
            <a:r>
              <a:rPr lang="en-US" sz="1200" dirty="0" err="1"/>
              <a:t>getTime</a:t>
            </a:r>
            <a:r>
              <a:rPr lang="en-US" sz="1200" dirty="0"/>
              <a:t>(); </a:t>
            </a:r>
            <a:r>
              <a:rPr lang="en-US" sz="1200" dirty="0" err="1"/>
              <a:t>getTimeLimit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getRealTime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getEventQueue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getWorkManager</a:t>
            </a:r>
            <a:r>
              <a:rPr lang="en-US" sz="1200" dirty="0"/>
              <a:t>()</a:t>
            </a:r>
          </a:p>
          <a:p>
            <a:r>
              <a:rPr lang="en-US" dirty="0"/>
              <a:t>     </a:t>
            </a:r>
          </a:p>
          <a:p>
            <a:r>
              <a:rPr lang="en-US" sz="1200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RunSimulation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200" dirty="0"/>
              <a:t>         while </a:t>
            </a:r>
            <a:r>
              <a:rPr lang="en-US" sz="1200" dirty="0" err="1"/>
              <a:t>self.getTime</a:t>
            </a:r>
            <a:r>
              <a:rPr lang="en-US" sz="1200" dirty="0"/>
              <a:t>() &lt; </a:t>
            </a:r>
            <a:r>
              <a:rPr lang="en-US" sz="1200" dirty="0" err="1"/>
              <a:t>self.getTimeLimit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weekendjump</a:t>
            </a:r>
            <a:endParaRPr lang="en-US" sz="1200" dirty="0"/>
          </a:p>
          <a:p>
            <a:r>
              <a:rPr lang="en-US" sz="1200" dirty="0"/>
              <a:t>                  if </a:t>
            </a:r>
            <a:r>
              <a:rPr lang="en-US" sz="1200" dirty="0" err="1"/>
              <a:t>self.getTime</a:t>
            </a:r>
            <a:r>
              <a:rPr lang="en-US" sz="1200" dirty="0"/>
              <a:t>() % </a:t>
            </a:r>
            <a:r>
              <a:rPr lang="en-US" sz="1200" dirty="0" err="1"/>
              <a:t>self.shift_minutes</a:t>
            </a:r>
            <a:r>
              <a:rPr lang="en-US" sz="1200" dirty="0"/>
              <a:t> == 0:</a:t>
            </a:r>
          </a:p>
          <a:p>
            <a:r>
              <a:rPr lang="en-US" sz="1200" dirty="0"/>
              <a:t>                          </a:t>
            </a:r>
            <a:r>
              <a:rPr lang="en-US" sz="1200" dirty="0" err="1"/>
              <a:t>applyShiftChange</a:t>
            </a:r>
            <a:r>
              <a:rPr lang="en-US" sz="1200" dirty="0"/>
              <a:t>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executeEvents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executeEvents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r>
              <a:rPr lang="en-US" sz="1200" dirty="0"/>
              <a:t> # handle pending events: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HandleSimEvent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</a:t>
            </a:r>
            <a:r>
              <a:rPr lang="en-US" sz="1200" dirty="0"/>
              <a:t>for e in </a:t>
            </a:r>
            <a:r>
              <a:rPr lang="en-US" sz="1200" dirty="0" err="1"/>
              <a:t>self.getEventQueue</a:t>
            </a:r>
            <a:r>
              <a:rPr lang="en-US" sz="1200" dirty="0"/>
              <a:t>()["</a:t>
            </a:r>
            <a:r>
              <a:rPr lang="en-US" sz="1200" dirty="0" err="1"/>
              <a:t>Preemptables</a:t>
            </a:r>
            <a:r>
              <a:rPr lang="en-US" sz="1200" dirty="0"/>
              <a:t>"]:</a:t>
            </a:r>
          </a:p>
          <a:p>
            <a:r>
              <a:rPr lang="en-US" sz="1200" dirty="0"/>
              <a:t>                     if not </a:t>
            </a:r>
            <a:r>
              <a:rPr lang="en-US" sz="1200" dirty="0" err="1"/>
              <a:t>e.IsActive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               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resumeSimEvent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r>
              <a:rPr lang="en-US" sz="1200" dirty="0"/>
              <a:t>                   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</a:t>
            </a:r>
            <a:endParaRPr lang="en-US" sz="1200" dirty="0"/>
          </a:p>
          <a:p>
            <a:r>
              <a:rPr lang="en-US" sz="1200" dirty="0"/>
              <a:t>                 </a:t>
            </a:r>
          </a:p>
          <a:p>
            <a:r>
              <a:rPr lang="en-US" sz="1200" dirty="0"/>
              <a:t>            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478E1-7838-7EDC-E55F-9B8B8D4D1300}"/>
              </a:ext>
            </a:extLst>
          </p:cNvPr>
          <p:cNvSpPr txBox="1"/>
          <p:nvPr/>
        </p:nvSpPr>
        <p:spPr>
          <a:xfrm>
            <a:off x="1479883" y="860258"/>
            <a:ext cx="4150895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ShopFloor</a:t>
            </a:r>
            <a:r>
              <a:rPr lang="en-US" dirty="0"/>
              <a:t> Manager</a:t>
            </a:r>
          </a:p>
          <a:p>
            <a:r>
              <a:rPr lang="en-US" dirty="0"/>
              <a:t>      </a:t>
            </a:r>
            <a:r>
              <a:rPr lang="en-US" sz="1200" dirty="0" err="1"/>
              <a:t>DataManager</a:t>
            </a:r>
            <a:endParaRPr lang="en-US" sz="1200" dirty="0"/>
          </a:p>
          <a:p>
            <a:r>
              <a:rPr lang="en-US" sz="1200" dirty="0"/>
              <a:t>         </a:t>
            </a:r>
            <a:r>
              <a:rPr lang="en-US" sz="1200" dirty="0" err="1"/>
              <a:t>getProductionOrders</a:t>
            </a:r>
            <a:r>
              <a:rPr lang="en-US" sz="1200" dirty="0"/>
              <a:t>()</a:t>
            </a:r>
          </a:p>
          <a:p>
            <a:r>
              <a:rPr lang="en-US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createInstance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/>
              <a:t>                </a:t>
            </a:r>
            <a:r>
              <a:rPr lang="en-US" sz="1200" dirty="0" err="1"/>
              <a:t>DataManager</a:t>
            </a:r>
            <a:r>
              <a:rPr lang="en-US" sz="1200" dirty="0"/>
              <a:t>. </a:t>
            </a:r>
            <a:r>
              <a:rPr lang="en-US" sz="1200" dirty="0" err="1"/>
              <a:t>ReadResources</a:t>
            </a:r>
            <a:r>
              <a:rPr lang="en-US" sz="1200" dirty="0"/>
              <a:t>()</a:t>
            </a:r>
          </a:p>
          <a:p>
            <a:r>
              <a:rPr lang="en-US" dirty="0"/>
              <a:t>           </a:t>
            </a:r>
            <a:r>
              <a:rPr lang="en-US" sz="1200" dirty="0" err="1"/>
              <a:t>DataManager</a:t>
            </a:r>
            <a:r>
              <a:rPr lang="en-US" sz="1200" dirty="0"/>
              <a:t>. </a:t>
            </a:r>
            <a:r>
              <a:rPr lang="en-US" sz="1200" dirty="0" err="1"/>
              <a:t>ReadDemandFile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applyShiftChange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  </a:t>
            </a:r>
            <a:r>
              <a:rPr lang="en-US" sz="1200" dirty="0"/>
              <a:t># preempted events are suspended.  </a:t>
            </a:r>
          </a:p>
          <a:p>
            <a:r>
              <a:rPr lang="en-US" sz="1200" dirty="0"/>
              <a:t>                      # execution block is closed. </a:t>
            </a:r>
          </a:p>
          <a:p>
            <a:r>
              <a:rPr lang="en-US" sz="1200" dirty="0"/>
              <a:t>              # resource availabilities are set.</a:t>
            </a:r>
          </a:p>
          <a:p>
            <a:endParaRPr lang="en-US" sz="1200" dirty="0"/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HandleSimEvent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                </a:t>
            </a:r>
          </a:p>
          <a:p>
            <a:endParaRPr lang="en-US" sz="1100" dirty="0"/>
          </a:p>
          <a:p>
            <a:r>
              <a:rPr lang="en-US" sz="14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resumeSimEvent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               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ProceedToScheduling</a:t>
            </a:r>
            <a:r>
              <a:rPr lang="en-US" sz="1400" dirty="0">
                <a:solidFill>
                  <a:srgbClr val="FF0000"/>
                </a:solidFill>
              </a:rPr>
              <a:t>(e) :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OprMove</a:t>
            </a:r>
            <a:r>
              <a:rPr lang="en-US" sz="1200" dirty="0"/>
              <a:t> =&gt; e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OprMove</a:t>
            </a:r>
            <a:r>
              <a:rPr lang="en-US" sz="1200" dirty="0"/>
              <a:t> =&gt; </a:t>
            </a:r>
            <a:r>
              <a:rPr lang="en-US" sz="1200" dirty="0" err="1"/>
              <a:t>BringEquip</a:t>
            </a:r>
            <a:r>
              <a:rPr lang="en-US" sz="1200" dirty="0"/>
              <a:t> =&gt; e</a:t>
            </a:r>
          </a:p>
          <a:p>
            <a:r>
              <a:rPr lang="en-US" sz="1200" dirty="0"/>
              <a:t>              </a:t>
            </a:r>
            <a:r>
              <a:rPr lang="en-US" sz="1200" dirty="0" err="1"/>
              <a:t>BringEquip</a:t>
            </a:r>
            <a:r>
              <a:rPr lang="en-US" sz="1200" dirty="0"/>
              <a:t> =&gt; e</a:t>
            </a:r>
            <a:r>
              <a:rPr lang="en-US" sz="1400" dirty="0">
                <a:solidFill>
                  <a:srgbClr val="FF0000"/>
                </a:solidFill>
              </a:rPr>
              <a:t>  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8918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3478E1-7838-7EDC-E55F-9B8B8D4D1300}"/>
              </a:ext>
            </a:extLst>
          </p:cNvPr>
          <p:cNvSpPr txBox="1"/>
          <p:nvPr/>
        </p:nvSpPr>
        <p:spPr>
          <a:xfrm>
            <a:off x="107993" y="167752"/>
            <a:ext cx="59375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pending events</a:t>
            </a:r>
          </a:p>
          <a:p>
            <a:r>
              <a:rPr lang="en-US" dirty="0"/>
              <a:t>Buffer():</a:t>
            </a:r>
          </a:p>
          <a:p>
            <a:r>
              <a:rPr lang="en-US" sz="1600" dirty="0"/>
              <a:t>    </a:t>
            </a:r>
            <a:r>
              <a:rPr lang="en-US" sz="1200" dirty="0" err="1"/>
              <a:t>self.getPendingEvent</a:t>
            </a:r>
            <a:r>
              <a:rPr lang="en-US" sz="1200" dirty="0"/>
              <a:t>()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 #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outputbuffer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: TL, #inputbuffer: MS</a:t>
            </a:r>
          </a:p>
          <a:p>
            <a:r>
              <a:rPr lang="en-US" sz="1400" dirty="0"/>
              <a:t>    </a:t>
            </a:r>
            <a:r>
              <a:rPr lang="en-US" sz="1400" dirty="0" err="1">
                <a:solidFill>
                  <a:srgbClr val="FF0000"/>
                </a:solidFill>
              </a:rPr>
              <a:t>addItem</a:t>
            </a:r>
            <a:r>
              <a:rPr lang="en-US" sz="1400" dirty="0">
                <a:solidFill>
                  <a:srgbClr val="FF0000"/>
                </a:solidFill>
              </a:rPr>
              <a:t>():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# very first happen at central buffer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/>
              <a:t>        </a:t>
            </a:r>
            <a:r>
              <a:rPr lang="en-US" sz="1200" dirty="0" err="1"/>
              <a:t>generateEvent</a:t>
            </a:r>
            <a:r>
              <a:rPr lang="en-US" sz="1200" dirty="0"/>
              <a:t>()</a:t>
            </a:r>
          </a:p>
          <a:p>
            <a:endParaRPr lang="en-US" sz="1600" dirty="0"/>
          </a:p>
          <a:p>
            <a:r>
              <a:rPr lang="en-US" sz="1600" dirty="0"/>
              <a:t>    </a:t>
            </a:r>
            <a:r>
              <a:rPr lang="en-US" sz="1400" dirty="0" err="1">
                <a:solidFill>
                  <a:srgbClr val="FF0000"/>
                </a:solidFill>
              </a:rPr>
              <a:t>generateEvent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200" dirty="0"/>
              <a:t>          if </a:t>
            </a:r>
            <a:r>
              <a:rPr lang="en-US" sz="1200" dirty="0" err="1"/>
              <a:t>len</a:t>
            </a:r>
            <a:r>
              <a:rPr lang="en-US" sz="1200" dirty="0"/>
              <a:t>(</a:t>
            </a:r>
            <a:r>
              <a:rPr lang="en-US" sz="1200" dirty="0" err="1"/>
              <a:t>self.getItems</a:t>
            </a:r>
            <a:r>
              <a:rPr lang="en-US" sz="1200" dirty="0"/>
              <a:t>()) &gt; 0 and </a:t>
            </a:r>
            <a:r>
              <a:rPr lang="en-US" sz="1200" dirty="0" err="1"/>
              <a:t>self.getPendingEvent</a:t>
            </a:r>
            <a:r>
              <a:rPr lang="en-US" sz="1200" dirty="0"/>
              <a:t>() == None: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     </a:t>
            </a:r>
            <a:r>
              <a:rPr lang="en-US" sz="1200" dirty="0"/>
              <a:t>if not </a:t>
            </a:r>
            <a:r>
              <a:rPr lang="en-US" sz="1200" dirty="0" err="1"/>
              <a:t>self.isInputType</a:t>
            </a:r>
            <a:r>
              <a:rPr lang="en-US" sz="1200" dirty="0"/>
              <a:t>():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#output buffer</a:t>
            </a:r>
          </a:p>
          <a:p>
            <a:r>
              <a:rPr lang="en-US" sz="1200" dirty="0"/>
              <a:t>                        </a:t>
            </a:r>
            <a:r>
              <a:rPr lang="en-US" sz="1200" dirty="0" err="1"/>
              <a:t>load_event_type</a:t>
            </a:r>
            <a:r>
              <a:rPr lang="en-US" sz="1200" dirty="0"/>
              <a:t> = </a:t>
            </a:r>
            <a:r>
              <a:rPr lang="en-US" sz="1200" dirty="0" err="1"/>
              <a:t>self.getWorkMgr</a:t>
            </a:r>
            <a:r>
              <a:rPr lang="en-US" sz="1200" dirty="0"/>
              <a:t>().</a:t>
            </a:r>
            <a:r>
              <a:rPr lang="en-US" sz="1200" dirty="0" err="1"/>
              <a:t>getEventTypes</a:t>
            </a:r>
            <a:r>
              <a:rPr lang="en-US" sz="1200" dirty="0"/>
              <a:t>()["Trailer Loading"]</a:t>
            </a:r>
          </a:p>
          <a:p>
            <a:r>
              <a:rPr lang="en-US" sz="1200" dirty="0"/>
              <a:t>                  else:                                    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 input buffer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                       </a:t>
            </a:r>
            <a:r>
              <a:rPr lang="en-US" sz="1200" dirty="0" err="1"/>
              <a:t>setup_event_type</a:t>
            </a:r>
            <a:r>
              <a:rPr lang="en-US" sz="1200" dirty="0"/>
              <a:t> = </a:t>
            </a:r>
            <a:r>
              <a:rPr lang="en-US" sz="1200" dirty="0" err="1"/>
              <a:t>self.getWorkMgr</a:t>
            </a:r>
            <a:r>
              <a:rPr lang="en-US" sz="1200" dirty="0"/>
              <a:t>().</a:t>
            </a:r>
            <a:r>
              <a:rPr lang="en-US" sz="1200" dirty="0" err="1"/>
              <a:t>getEventTypes</a:t>
            </a:r>
            <a:r>
              <a:rPr lang="en-US" sz="1200" dirty="0"/>
              <a:t>()["Machine Setup"]</a:t>
            </a:r>
          </a:p>
          <a:p>
            <a:r>
              <a:rPr lang="en-US" sz="1200" dirty="0"/>
              <a:t>          </a:t>
            </a:r>
            <a:r>
              <a:rPr lang="en-US" sz="1200" dirty="0">
                <a:solidFill>
                  <a:srgbClr val="FF0000"/>
                </a:solidFill>
              </a:rPr>
              <a:t>self.getSimulator().</a:t>
            </a:r>
            <a:r>
              <a:rPr lang="en-US" sz="1200" dirty="0" err="1">
                <a:solidFill>
                  <a:srgbClr val="FF0000"/>
                </a:solidFill>
              </a:rPr>
              <a:t>ScheduleEvent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en-US" sz="1200" dirty="0" err="1">
                <a:solidFill>
                  <a:srgbClr val="FF0000"/>
                </a:solidFill>
              </a:rPr>
              <a:t>self.getPendingEvent</a:t>
            </a:r>
            <a:r>
              <a:rPr lang="en-US" sz="1200" dirty="0">
                <a:solidFill>
                  <a:srgbClr val="FF0000"/>
                </a:solidFill>
              </a:rPr>
              <a:t>())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3188C-BD23-D09C-0AD9-71D951C1C8EE}"/>
              </a:ext>
            </a:extLst>
          </p:cNvPr>
          <p:cNvSpPr txBox="1"/>
          <p:nvPr/>
        </p:nvSpPr>
        <p:spPr>
          <a:xfrm>
            <a:off x="6983793" y="446089"/>
            <a:ext cx="520820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Simulator</a:t>
            </a:r>
          </a:p>
          <a:p>
            <a:r>
              <a:rPr lang="en-US" dirty="0"/>
              <a:t>     </a:t>
            </a:r>
            <a:r>
              <a:rPr lang="en-US" sz="1200" dirty="0" err="1"/>
              <a:t>getTime</a:t>
            </a:r>
            <a:r>
              <a:rPr lang="en-US" sz="1200" dirty="0"/>
              <a:t>(); </a:t>
            </a:r>
            <a:r>
              <a:rPr lang="en-US" sz="1200" dirty="0" err="1"/>
              <a:t>getTimeLimit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getRealTime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</a:t>
            </a:r>
            <a:r>
              <a:rPr lang="en-US" sz="1200" dirty="0" err="1"/>
              <a:t>getEventQueue</a:t>
            </a:r>
            <a:r>
              <a:rPr lang="en-US" sz="1200" dirty="0"/>
              <a:t>()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getWorkManager</a:t>
            </a:r>
            <a:r>
              <a:rPr lang="en-US" sz="1200" dirty="0"/>
              <a:t>()</a:t>
            </a:r>
          </a:p>
          <a:p>
            <a:r>
              <a:rPr lang="en-US" dirty="0"/>
              <a:t>     </a:t>
            </a:r>
          </a:p>
          <a:p>
            <a:r>
              <a:rPr lang="en-US" sz="1200" dirty="0"/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RunSimulation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200" dirty="0"/>
              <a:t>         while </a:t>
            </a:r>
            <a:r>
              <a:rPr lang="en-US" sz="1200" dirty="0" err="1"/>
              <a:t>self.getTime</a:t>
            </a:r>
            <a:r>
              <a:rPr lang="en-US" sz="1200" dirty="0"/>
              <a:t>() &lt; </a:t>
            </a:r>
            <a:r>
              <a:rPr lang="en-US" sz="1200" dirty="0" err="1"/>
              <a:t>self.getTimeLimit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# </a:t>
            </a:r>
            <a:r>
              <a:rPr lang="en-US" sz="1200" dirty="0" err="1"/>
              <a:t>weekendjump</a:t>
            </a:r>
            <a:endParaRPr lang="en-US" sz="1200" dirty="0"/>
          </a:p>
          <a:p>
            <a:r>
              <a:rPr lang="en-US" sz="1200" dirty="0"/>
              <a:t>                  if </a:t>
            </a:r>
            <a:r>
              <a:rPr lang="en-US" sz="1200" dirty="0" err="1"/>
              <a:t>self.getTime</a:t>
            </a:r>
            <a:r>
              <a:rPr lang="en-US" sz="1200" dirty="0"/>
              <a:t>() % </a:t>
            </a:r>
            <a:r>
              <a:rPr lang="en-US" sz="1200" dirty="0" err="1"/>
              <a:t>self.shift_minutes</a:t>
            </a:r>
            <a:r>
              <a:rPr lang="en-US" sz="1200" dirty="0"/>
              <a:t> == 0:</a:t>
            </a:r>
          </a:p>
          <a:p>
            <a:r>
              <a:rPr lang="en-US" sz="1200" dirty="0"/>
              <a:t>                          </a:t>
            </a:r>
            <a:r>
              <a:rPr lang="en-US" sz="1200" dirty="0" err="1"/>
              <a:t>applyShiftChange</a:t>
            </a:r>
            <a:r>
              <a:rPr lang="en-US" sz="1200" dirty="0"/>
              <a:t>()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executeEvents</a:t>
            </a:r>
            <a:r>
              <a:rPr lang="en-US" sz="1200" dirty="0"/>
              <a:t>()</a:t>
            </a:r>
          </a:p>
          <a:p>
            <a:endParaRPr lang="en-US" sz="1200" dirty="0"/>
          </a:p>
          <a:p>
            <a:r>
              <a:rPr lang="en-US" sz="1200" dirty="0"/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executeEvents</a:t>
            </a:r>
            <a:r>
              <a:rPr lang="en-US" sz="1400" dirty="0">
                <a:solidFill>
                  <a:srgbClr val="FF0000"/>
                </a:solidFill>
              </a:rPr>
              <a:t>():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r>
              <a:rPr lang="en-US" sz="1200" dirty="0"/>
              <a:t> # handle pending events: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HandleSimEvent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            </a:t>
            </a:r>
            <a:r>
              <a:rPr lang="en-US" sz="1200" dirty="0"/>
              <a:t>for e in </a:t>
            </a:r>
            <a:r>
              <a:rPr lang="en-US" sz="1200" dirty="0" err="1"/>
              <a:t>self.getEventQueue</a:t>
            </a:r>
            <a:r>
              <a:rPr lang="en-US" sz="1200" dirty="0"/>
              <a:t>()["</a:t>
            </a:r>
            <a:r>
              <a:rPr lang="en-US" sz="1200" dirty="0" err="1"/>
              <a:t>Preemptables</a:t>
            </a:r>
            <a:r>
              <a:rPr lang="en-US" sz="1200" dirty="0"/>
              <a:t>"]:</a:t>
            </a:r>
          </a:p>
          <a:p>
            <a:r>
              <a:rPr lang="en-US" sz="1200" dirty="0"/>
              <a:t>                     if not </a:t>
            </a:r>
            <a:r>
              <a:rPr lang="en-US" sz="1200" dirty="0" err="1"/>
              <a:t>e.IsActive</a:t>
            </a:r>
            <a:r>
              <a:rPr lang="en-US" sz="1200" dirty="0"/>
              <a:t>():</a:t>
            </a:r>
          </a:p>
          <a:p>
            <a:r>
              <a:rPr lang="en-US" sz="1200" dirty="0"/>
              <a:t>                               </a:t>
            </a:r>
            <a:r>
              <a:rPr lang="en-US" sz="1200" dirty="0" err="1"/>
              <a:t>getWorkManager</a:t>
            </a:r>
            <a:r>
              <a:rPr lang="en-US" sz="1200" dirty="0"/>
              <a:t>().</a:t>
            </a:r>
            <a:r>
              <a:rPr lang="en-US" sz="1200" dirty="0" err="1">
                <a:solidFill>
                  <a:srgbClr val="FF0000"/>
                </a:solidFill>
              </a:rPr>
              <a:t>resumeSimEvent</a:t>
            </a:r>
            <a:r>
              <a:rPr lang="en-US" sz="1200" dirty="0">
                <a:solidFill>
                  <a:srgbClr val="FF0000"/>
                </a:solidFill>
              </a:rPr>
              <a:t>(e)</a:t>
            </a:r>
          </a:p>
          <a:p>
            <a:r>
              <a:rPr lang="en-US" sz="1200" dirty="0"/>
              <a:t>                   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ScheduleEvent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200" dirty="0"/>
              <a:t>           if </a:t>
            </a:r>
            <a:r>
              <a:rPr lang="en-US" sz="1200" dirty="0" err="1"/>
              <a:t>e.getEquipment</a:t>
            </a:r>
            <a:r>
              <a:rPr lang="en-US" sz="1200" dirty="0"/>
              <a:t>() == None or </a:t>
            </a:r>
            <a:r>
              <a:rPr lang="en-US" sz="1200" dirty="0" err="1"/>
              <a:t>e.getResource</a:t>
            </a:r>
            <a:r>
              <a:rPr lang="en-US" sz="1200" dirty="0"/>
              <a:t>() == None:</a:t>
            </a:r>
          </a:p>
          <a:p>
            <a:r>
              <a:rPr lang="en-US" sz="1200" dirty="0"/>
              <a:t>                  if not e in </a:t>
            </a:r>
            <a:r>
              <a:rPr lang="en-US" sz="1200" dirty="0" err="1"/>
              <a:t>self.getEventQueue</a:t>
            </a:r>
            <a:r>
              <a:rPr lang="en-US" sz="1200" dirty="0"/>
              <a:t>()["Pending"]:                       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self.getEventQueue</a:t>
            </a:r>
            <a:r>
              <a:rPr lang="en-US" sz="1200" dirty="0"/>
              <a:t>()["Pending"].append(e)</a:t>
            </a:r>
          </a:p>
          <a:p>
            <a:r>
              <a:rPr lang="en-US" sz="1200" dirty="0"/>
              <a:t>          else:</a:t>
            </a:r>
          </a:p>
          <a:p>
            <a:r>
              <a:rPr lang="en-US" sz="1200" dirty="0"/>
              <a:t>                  </a:t>
            </a:r>
            <a:r>
              <a:rPr lang="en-US" sz="1200" dirty="0" err="1"/>
              <a:t>self.getEventQueue</a:t>
            </a:r>
            <a:r>
              <a:rPr lang="en-US" sz="1200" dirty="0"/>
              <a:t>()[</a:t>
            </a:r>
            <a:r>
              <a:rPr lang="en-US" sz="1200" dirty="0" err="1"/>
              <a:t>self.getTime</a:t>
            </a:r>
            <a:r>
              <a:rPr lang="en-US" sz="1200" dirty="0"/>
              <a:t>()].append(e)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# event can start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        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C3EF9-8032-CF1C-08E6-7E3DF924DAAB}"/>
              </a:ext>
            </a:extLst>
          </p:cNvPr>
          <p:cNvSpPr txBox="1"/>
          <p:nvPr/>
        </p:nvSpPr>
        <p:spPr>
          <a:xfrm>
            <a:off x="223029" y="3122407"/>
            <a:ext cx="658656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ShopFloor</a:t>
            </a:r>
            <a:r>
              <a:rPr lang="en-US" dirty="0"/>
              <a:t> Manager</a:t>
            </a:r>
            <a:endParaRPr lang="en-US" sz="1200" dirty="0"/>
          </a:p>
          <a:p>
            <a:r>
              <a:rPr lang="en-US" sz="1400" dirty="0">
                <a:solidFill>
                  <a:srgbClr val="FF0000"/>
                </a:solidFill>
              </a:rPr>
              <a:t>       </a:t>
            </a:r>
            <a:r>
              <a:rPr lang="en-US" sz="1400" dirty="0" err="1">
                <a:solidFill>
                  <a:srgbClr val="FF0000"/>
                </a:solidFill>
              </a:rPr>
              <a:t>HandleSimEvent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                  </a:t>
            </a:r>
          </a:p>
          <a:p>
            <a:r>
              <a:rPr lang="en-US" sz="1400" dirty="0"/>
              <a:t>        </a:t>
            </a:r>
            <a:r>
              <a:rPr lang="en-US" sz="1400" dirty="0" err="1">
                <a:solidFill>
                  <a:srgbClr val="FF0000"/>
                </a:solidFill>
              </a:rPr>
              <a:t>resumeSimEvent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e.getEquipment</a:t>
            </a:r>
            <a:r>
              <a:rPr lang="en-US" sz="1100" dirty="0"/>
              <a:t>() == None or </a:t>
            </a:r>
            <a:r>
              <a:rPr lang="en-US" sz="1100" dirty="0" err="1"/>
              <a:t>e.getResource</a:t>
            </a:r>
            <a:r>
              <a:rPr lang="en-US" sz="1100" dirty="0"/>
              <a:t>() == None:</a:t>
            </a:r>
          </a:p>
          <a:p>
            <a:r>
              <a:rPr lang="en-US" sz="1100" dirty="0"/>
              <a:t>                  # execute decisions for the event e. </a:t>
            </a:r>
          </a:p>
          <a:p>
            <a:r>
              <a:rPr lang="en-US" sz="1100" dirty="0"/>
              <a:t>               if </a:t>
            </a:r>
            <a:r>
              <a:rPr lang="en-US" sz="1100" dirty="0" err="1"/>
              <a:t>e.getEquipment</a:t>
            </a:r>
            <a:r>
              <a:rPr lang="en-US" sz="1100" dirty="0"/>
              <a:t>() != None and </a:t>
            </a:r>
            <a:r>
              <a:rPr lang="en-US" sz="1100" dirty="0" err="1"/>
              <a:t>e.getResource</a:t>
            </a:r>
            <a:r>
              <a:rPr lang="en-US" sz="1100" dirty="0"/>
              <a:t>() != None:</a:t>
            </a:r>
          </a:p>
          <a:p>
            <a:r>
              <a:rPr lang="en-US" sz="1100" dirty="0"/>
              <a:t>                          </a:t>
            </a:r>
            <a:r>
              <a:rPr lang="en-US" sz="1100" dirty="0" err="1"/>
              <a:t>ProceedToScheduling</a:t>
            </a:r>
            <a:r>
              <a:rPr lang="en-US" sz="1100" dirty="0"/>
              <a:t>(e) </a:t>
            </a:r>
          </a:p>
          <a:p>
            <a:r>
              <a:rPr lang="en-US" sz="1100" dirty="0"/>
              <a:t>  </a:t>
            </a:r>
            <a:r>
              <a:rPr lang="en-US" sz="1400" dirty="0">
                <a:solidFill>
                  <a:srgbClr val="FF0000"/>
                </a:solidFill>
              </a:rPr>
              <a:t>      </a:t>
            </a:r>
            <a:r>
              <a:rPr lang="en-US" sz="1400" dirty="0" err="1">
                <a:solidFill>
                  <a:srgbClr val="FF0000"/>
                </a:solidFill>
              </a:rPr>
              <a:t>startSimEvent</a:t>
            </a:r>
            <a:r>
              <a:rPr lang="en-US" sz="1400" dirty="0">
                <a:solidFill>
                  <a:srgbClr val="FF0000"/>
                </a:solidFill>
              </a:rPr>
              <a:t>(e):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          </a:t>
            </a:r>
            <a:r>
              <a:rPr lang="en-US" sz="1100" dirty="0"/>
              <a:t>if </a:t>
            </a:r>
            <a:r>
              <a:rPr lang="en-US" sz="1100" dirty="0" err="1"/>
              <a:t>e.getResource</a:t>
            </a:r>
            <a:r>
              <a:rPr lang="en-US" sz="1100" dirty="0"/>
              <a:t>().</a:t>
            </a:r>
            <a:r>
              <a:rPr lang="en-US" sz="1100" dirty="0" err="1"/>
              <a:t>isAvailable</a:t>
            </a:r>
            <a:r>
              <a:rPr lang="en-US" sz="1100" dirty="0"/>
              <a:t>() and  </a:t>
            </a:r>
            <a:r>
              <a:rPr lang="en-US" sz="1100" dirty="0" err="1"/>
              <a:t>e.getEquipment</a:t>
            </a:r>
            <a:r>
              <a:rPr lang="en-US" sz="1100" dirty="0"/>
              <a:t>().</a:t>
            </a:r>
            <a:r>
              <a:rPr lang="en-US" sz="1100" dirty="0" err="1"/>
              <a:t>isAvailable</a:t>
            </a:r>
            <a:r>
              <a:rPr lang="en-US" sz="1100" dirty="0"/>
              <a:t>():                  #              </a:t>
            </a:r>
          </a:p>
          <a:p>
            <a:r>
              <a:rPr lang="en-US" sz="1100" dirty="0"/>
              <a:t>                       execute decisions for the event e. </a:t>
            </a:r>
          </a:p>
          <a:p>
            <a:r>
              <a:rPr lang="en-US" sz="1100" dirty="0"/>
              <a:t>                       </a:t>
            </a:r>
            <a:r>
              <a:rPr lang="en-US" sz="1100" dirty="0" err="1"/>
              <a:t>e.setActive</a:t>
            </a:r>
            <a:r>
              <a:rPr lang="en-US" sz="1100" dirty="0"/>
              <a:t>()</a:t>
            </a:r>
          </a:p>
          <a:p>
            <a:r>
              <a:rPr lang="en-US" sz="1100" dirty="0"/>
              <a:t>                if </a:t>
            </a:r>
            <a:r>
              <a:rPr lang="en-US" sz="1100" dirty="0" err="1"/>
              <a:t>e.getEventType</a:t>
            </a:r>
            <a:r>
              <a:rPr lang="en-US" sz="1100" dirty="0"/>
              <a:t>().</a:t>
            </a:r>
            <a:r>
              <a:rPr lang="en-US" sz="1100" dirty="0" err="1"/>
              <a:t>isPreemptable</a:t>
            </a:r>
            <a:r>
              <a:rPr lang="en-US" sz="1100" dirty="0"/>
              <a:t>():</a:t>
            </a:r>
          </a:p>
          <a:p>
            <a:r>
              <a:rPr lang="en-US" sz="1100" dirty="0"/>
              <a:t>                       if </a:t>
            </a:r>
            <a:r>
              <a:rPr lang="en-US" sz="1100" dirty="0" err="1"/>
              <a:t>e.getEventType</a:t>
            </a:r>
            <a:r>
              <a:rPr lang="en-US" sz="1100" dirty="0"/>
              <a:t>().</a:t>
            </a:r>
            <a:r>
              <a:rPr lang="en-US" sz="1100" dirty="0" err="1"/>
              <a:t>isProcess</a:t>
            </a:r>
            <a:r>
              <a:rPr lang="en-US" sz="1100" dirty="0"/>
              <a:t>():</a:t>
            </a:r>
          </a:p>
          <a:p>
            <a:r>
              <a:rPr lang="en-US" sz="1100" dirty="0"/>
              <a:t>                            </a:t>
            </a:r>
            <a:r>
              <a:rPr lang="en-US" sz="1100" dirty="0" err="1"/>
              <a:t>e.getProgressDict</a:t>
            </a:r>
            <a:r>
              <a:rPr lang="en-US" sz="1100" dirty="0"/>
              <a:t>()[</a:t>
            </a:r>
            <a:r>
              <a:rPr lang="en-US" sz="1100" dirty="0" err="1"/>
              <a:t>event.getEquipment</a:t>
            </a:r>
            <a:r>
              <a:rPr lang="en-US" sz="1100" dirty="0"/>
              <a:t>()].append((self.getSimulator().</a:t>
            </a:r>
            <a:r>
              <a:rPr lang="en-US" sz="1100" dirty="0" err="1"/>
              <a:t>getTime</a:t>
            </a:r>
            <a:r>
              <a:rPr lang="en-US" sz="1100" dirty="0"/>
              <a:t>(),0))</a:t>
            </a:r>
          </a:p>
        </p:txBody>
      </p:sp>
    </p:spTree>
    <p:extLst>
      <p:ext uri="{BB962C8B-B14F-4D97-AF65-F5344CB8AC3E}">
        <p14:creationId xmlns:p14="http://schemas.microsoft.com/office/powerpoint/2010/main" val="221193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DD7B4A-E71C-1E6B-44F3-1800A79F0FA7}"/>
              </a:ext>
            </a:extLst>
          </p:cNvPr>
          <p:cNvSpPr/>
          <p:nvPr/>
        </p:nvSpPr>
        <p:spPr>
          <a:xfrm>
            <a:off x="2597972" y="982977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event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A6F7AA34-18E6-E16D-F2D5-A2DFD431DFE2}"/>
              </a:ext>
            </a:extLst>
          </p:cNvPr>
          <p:cNvSpPr/>
          <p:nvPr/>
        </p:nvSpPr>
        <p:spPr>
          <a:xfrm>
            <a:off x="2343822" y="3647496"/>
            <a:ext cx="2581836" cy="67101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Eq and Res assigned?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C33FC-EFDE-6818-7FEB-E226F62B02BA}"/>
              </a:ext>
            </a:extLst>
          </p:cNvPr>
          <p:cNvSpPr txBox="1"/>
          <p:nvPr/>
        </p:nvSpPr>
        <p:spPr>
          <a:xfrm>
            <a:off x="3631603" y="430955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5821EF-82DF-2ED2-21D3-E0736E262F6C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flipH="1">
            <a:off x="3634740" y="1343358"/>
            <a:ext cx="1" cy="31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2811675-E502-66B2-34CC-B1B694F6CC32}"/>
              </a:ext>
            </a:extLst>
          </p:cNvPr>
          <p:cNvSpPr/>
          <p:nvPr/>
        </p:nvSpPr>
        <p:spPr>
          <a:xfrm>
            <a:off x="2519306" y="1658309"/>
            <a:ext cx="2230868" cy="46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Put into </a:t>
            </a:r>
          </a:p>
          <a:p>
            <a:pPr algn="ctr"/>
            <a:r>
              <a:rPr lang="en-US" sz="1400" dirty="0" err="1"/>
              <a:t>Simulator.pending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30B651-551A-2DAA-7E94-51767B001A40}"/>
              </a:ext>
            </a:extLst>
          </p:cNvPr>
          <p:cNvSpPr/>
          <p:nvPr/>
        </p:nvSpPr>
        <p:spPr>
          <a:xfrm>
            <a:off x="5880211" y="4323093"/>
            <a:ext cx="2079811" cy="44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create preparation events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0D6855-0D93-6A00-1A67-6FC428DDC06B}"/>
              </a:ext>
            </a:extLst>
          </p:cNvPr>
          <p:cNvSpPr txBox="1"/>
          <p:nvPr/>
        </p:nvSpPr>
        <p:spPr>
          <a:xfrm>
            <a:off x="1703107" y="321356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B82B5C-C396-0FD7-B55E-72ECDD2D0C14}"/>
              </a:ext>
            </a:extLst>
          </p:cNvPr>
          <p:cNvSpPr/>
          <p:nvPr/>
        </p:nvSpPr>
        <p:spPr>
          <a:xfrm>
            <a:off x="2597972" y="3033378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Handle event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3156AC-100B-5DA4-5238-2BED67D431ED}"/>
              </a:ext>
            </a:extLst>
          </p:cNvPr>
          <p:cNvCxnSpPr>
            <a:cxnSpLocks/>
            <a:stCxn id="46" idx="2"/>
            <a:endCxn id="14" idx="0"/>
          </p:cNvCxnSpPr>
          <p:nvPr/>
        </p:nvCxnSpPr>
        <p:spPr>
          <a:xfrm flipH="1">
            <a:off x="3634740" y="3393759"/>
            <a:ext cx="1" cy="253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361977D-D283-16D9-061B-0DE094C39666}"/>
              </a:ext>
            </a:extLst>
          </p:cNvPr>
          <p:cNvSpPr/>
          <p:nvPr/>
        </p:nvSpPr>
        <p:spPr>
          <a:xfrm>
            <a:off x="2597972" y="2389243"/>
            <a:ext cx="2073537" cy="360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Simulator time tick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BFB234-F195-0722-FB4E-C530DC1571DD}"/>
              </a:ext>
            </a:extLst>
          </p:cNvPr>
          <p:cNvCxnSpPr>
            <a:cxnSpLocks/>
            <a:stCxn id="26" idx="2"/>
            <a:endCxn id="58" idx="0"/>
          </p:cNvCxnSpPr>
          <p:nvPr/>
        </p:nvCxnSpPr>
        <p:spPr>
          <a:xfrm>
            <a:off x="3634740" y="2124925"/>
            <a:ext cx="1" cy="264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65FAAEF-2A6E-7D3B-5A37-91CD36D7162D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634741" y="2749624"/>
            <a:ext cx="0" cy="360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1F79D23-F11A-6F67-DC2B-71B3C584C79E}"/>
              </a:ext>
            </a:extLst>
          </p:cNvPr>
          <p:cNvCxnSpPr>
            <a:cxnSpLocks/>
            <a:stCxn id="14" idx="1"/>
            <a:endCxn id="58" idx="1"/>
          </p:cNvCxnSpPr>
          <p:nvPr/>
        </p:nvCxnSpPr>
        <p:spPr>
          <a:xfrm rot="10800000" flipH="1">
            <a:off x="2343822" y="2569434"/>
            <a:ext cx="254150" cy="1413568"/>
          </a:xfrm>
          <a:prstGeom prst="bentConnector3">
            <a:avLst>
              <a:gd name="adj1" fmla="val -899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4D928D1-83F5-6E77-C931-B6B2AE7E2C5B}"/>
              </a:ext>
            </a:extLst>
          </p:cNvPr>
          <p:cNvCxnSpPr>
            <a:cxnSpLocks/>
            <a:stCxn id="14" idx="2"/>
            <a:endCxn id="118" idx="0"/>
          </p:cNvCxnSpPr>
          <p:nvPr/>
        </p:nvCxnSpPr>
        <p:spPr>
          <a:xfrm flipH="1">
            <a:off x="3631604" y="4318507"/>
            <a:ext cx="3136" cy="360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A9AC69A-739F-8A37-52E9-7CF4A0675001}"/>
              </a:ext>
            </a:extLst>
          </p:cNvPr>
          <p:cNvSpPr/>
          <p:nvPr/>
        </p:nvSpPr>
        <p:spPr>
          <a:xfrm>
            <a:off x="5272403" y="541309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PE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DEB3313-C79E-4A79-0EB1-FC06AF7BD9FF}"/>
              </a:ext>
            </a:extLst>
          </p:cNvPr>
          <p:cNvCxnSpPr>
            <a:cxnSpLocks/>
            <a:stCxn id="126" idx="3"/>
            <a:endCxn id="80" idx="1"/>
          </p:cNvCxnSpPr>
          <p:nvPr/>
        </p:nvCxnSpPr>
        <p:spPr>
          <a:xfrm>
            <a:off x="6912048" y="950101"/>
            <a:ext cx="452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D8984-AA30-02EE-C7A2-4B97035E02B4}"/>
              </a:ext>
            </a:extLst>
          </p:cNvPr>
          <p:cNvSpPr/>
          <p:nvPr/>
        </p:nvSpPr>
        <p:spPr>
          <a:xfrm>
            <a:off x="7364766" y="745706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TT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B51C185-71EB-8C64-01C8-384BC97C28FE}"/>
              </a:ext>
            </a:extLst>
          </p:cNvPr>
          <p:cNvCxnSpPr>
            <a:cxnSpLocks/>
            <a:stCxn id="80" idx="3"/>
            <a:endCxn id="84" idx="1"/>
          </p:cNvCxnSpPr>
          <p:nvPr/>
        </p:nvCxnSpPr>
        <p:spPr>
          <a:xfrm flipV="1">
            <a:off x="7972574" y="950101"/>
            <a:ext cx="452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541E2737-CC73-F1F3-91E4-57D426FB680B}"/>
              </a:ext>
            </a:extLst>
          </p:cNvPr>
          <p:cNvSpPr/>
          <p:nvPr/>
        </p:nvSpPr>
        <p:spPr>
          <a:xfrm>
            <a:off x="8425292" y="745705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90DB7F7-056D-1F29-2F49-B2094C08A5FF}"/>
              </a:ext>
            </a:extLst>
          </p:cNvPr>
          <p:cNvSpPr/>
          <p:nvPr/>
        </p:nvSpPr>
        <p:spPr>
          <a:xfrm>
            <a:off x="5852160" y="1733773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MS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5E925EE-65A6-7166-AE8A-AF3424EA65E0}"/>
              </a:ext>
            </a:extLst>
          </p:cNvPr>
          <p:cNvSpPr/>
          <p:nvPr/>
        </p:nvSpPr>
        <p:spPr>
          <a:xfrm>
            <a:off x="7060862" y="2242744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E41B5B7-35B0-8D91-5775-AD81AA70D700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>
            <a:off x="7668670" y="2447140"/>
            <a:ext cx="6008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D1453C99-FBE3-D612-3A7C-75F247DF0BC0}"/>
              </a:ext>
            </a:extLst>
          </p:cNvPr>
          <p:cNvSpPr/>
          <p:nvPr/>
        </p:nvSpPr>
        <p:spPr>
          <a:xfrm>
            <a:off x="8269564" y="2242744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C65942-B5BA-F955-3A7C-8683A4F4EC4E}"/>
              </a:ext>
            </a:extLst>
          </p:cNvPr>
          <p:cNvSpPr/>
          <p:nvPr/>
        </p:nvSpPr>
        <p:spPr>
          <a:xfrm>
            <a:off x="7060862" y="1343358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ML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975F09E-FD2E-02E6-3CD5-978D1A603E1B}"/>
              </a:ext>
            </a:extLst>
          </p:cNvPr>
          <p:cNvCxnSpPr>
            <a:cxnSpLocks/>
            <a:stCxn id="92" idx="3"/>
            <a:endCxn id="101" idx="1"/>
          </p:cNvCxnSpPr>
          <p:nvPr/>
        </p:nvCxnSpPr>
        <p:spPr>
          <a:xfrm flipV="1">
            <a:off x="6459968" y="1547754"/>
            <a:ext cx="600894" cy="390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2038F1D-957E-C502-A09B-1190A19ADCAA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920116" y="4769535"/>
            <a:ext cx="1" cy="355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E9E8C80-73AA-A668-1CCB-9BB72E61A8B7}"/>
              </a:ext>
            </a:extLst>
          </p:cNvPr>
          <p:cNvSpPr/>
          <p:nvPr/>
        </p:nvSpPr>
        <p:spPr>
          <a:xfrm>
            <a:off x="2591698" y="4678888"/>
            <a:ext cx="2079811" cy="44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create preparation events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DDD7605-8862-4010-75DC-DE0AEBEF4580}"/>
              </a:ext>
            </a:extLst>
          </p:cNvPr>
          <p:cNvSpPr/>
          <p:nvPr/>
        </p:nvSpPr>
        <p:spPr>
          <a:xfrm>
            <a:off x="6304240" y="745705"/>
            <a:ext cx="607808" cy="408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TL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9090040-B635-454D-CED0-6F2BF2577547}"/>
              </a:ext>
            </a:extLst>
          </p:cNvPr>
          <p:cNvCxnSpPr>
            <a:cxnSpLocks/>
            <a:stCxn id="75" idx="3"/>
            <a:endCxn id="126" idx="1"/>
          </p:cNvCxnSpPr>
          <p:nvPr/>
        </p:nvCxnSpPr>
        <p:spPr>
          <a:xfrm>
            <a:off x="5880211" y="745705"/>
            <a:ext cx="424029" cy="204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45BEF0B-692E-A69C-8314-8D77300865FB}"/>
              </a:ext>
            </a:extLst>
          </p:cNvPr>
          <p:cNvCxnSpPr>
            <a:cxnSpLocks/>
            <a:stCxn id="92" idx="3"/>
            <a:endCxn id="94" idx="1"/>
          </p:cNvCxnSpPr>
          <p:nvPr/>
        </p:nvCxnSpPr>
        <p:spPr>
          <a:xfrm>
            <a:off x="6459968" y="1938169"/>
            <a:ext cx="600894" cy="508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52B843C-B010-2ACB-59AF-96E8CD6C74AF}"/>
              </a:ext>
            </a:extLst>
          </p:cNvPr>
          <p:cNvCxnSpPr>
            <a:cxnSpLocks/>
            <a:stCxn id="101" idx="2"/>
            <a:endCxn id="94" idx="0"/>
          </p:cNvCxnSpPr>
          <p:nvPr/>
        </p:nvCxnSpPr>
        <p:spPr>
          <a:xfrm>
            <a:off x="7364766" y="1752149"/>
            <a:ext cx="0" cy="490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4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E7D9EB-3224-F7E8-721F-5033EFE05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762853"/>
              </p:ext>
            </p:extLst>
          </p:nvPr>
        </p:nvGraphicFramePr>
        <p:xfrm>
          <a:off x="598397" y="138296"/>
          <a:ext cx="11411463" cy="6608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693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  <a:gridCol w="929143">
                  <a:extLst>
                    <a:ext uri="{9D8B030D-6E8A-4147-A177-3AD203B41FA5}">
                      <a16:colId xmlns:a16="http://schemas.microsoft.com/office/drawing/2014/main" val="742810794"/>
                    </a:ext>
                  </a:extLst>
                </a:gridCol>
                <a:gridCol w="1349917">
                  <a:extLst>
                    <a:ext uri="{9D8B030D-6E8A-4147-A177-3AD203B41FA5}">
                      <a16:colId xmlns:a16="http://schemas.microsoft.com/office/drawing/2014/main" val="2877227665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2050035615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1464040066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2726462448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85551947"/>
                    </a:ext>
                  </a:extLst>
                </a:gridCol>
                <a:gridCol w="1139530">
                  <a:extLst>
                    <a:ext uri="{9D8B030D-6E8A-4147-A177-3AD203B41FA5}">
                      <a16:colId xmlns:a16="http://schemas.microsoft.com/office/drawing/2014/main" val="940156837"/>
                    </a:ext>
                  </a:extLst>
                </a:gridCol>
              </a:tblGrid>
              <a:tr h="547807">
                <a:tc>
                  <a:txBody>
                    <a:bodyPr/>
                    <a:lstStyle/>
                    <a:p>
                      <a:r>
                        <a:rPr lang="en-US" sz="16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Loc/Place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Con. Pred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Def. Pred.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Direct Fol.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Preempt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Item Sel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OM,BE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951455">
                <a:tc>
                  <a:txBody>
                    <a:bodyPr/>
                    <a:lstStyle/>
                    <a:p>
                      <a:r>
                        <a:rPr lang="en-US" sz="20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M&gt;M</a:t>
                      </a:r>
                    </a:p>
                    <a:p>
                      <a:r>
                        <a:rPr lang="en-US" sz="2000" dirty="0"/>
                        <a:t>Out&gt;</a:t>
                      </a:r>
                      <a:r>
                        <a:rPr lang="en-US" sz="2000" dirty="0" err="1"/>
                        <a:t>Inp</a:t>
                      </a:r>
                      <a:r>
                        <a:rPr lang="en-US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 err="1"/>
                        <a:t>Inp</a:t>
                      </a:r>
                      <a:r>
                        <a:rPr lang="en-US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 err="1"/>
                        <a:t>Inp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663135">
                <a:tc>
                  <a:txBody>
                    <a:bodyPr/>
                    <a:lstStyle/>
                    <a:p>
                      <a:r>
                        <a:rPr lang="en-US" sz="20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Opr</a:t>
                      </a:r>
                      <a:r>
                        <a:rPr lang="en-US" sz="2000" dirty="0"/>
                        <a:t> (Man)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</a:t>
                      </a:r>
                    </a:p>
                    <a:p>
                      <a:r>
                        <a:rPr lang="en-US" sz="20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400920">
                <a:tc>
                  <a:txBody>
                    <a:bodyPr/>
                    <a:lstStyle/>
                    <a:p>
                      <a:r>
                        <a:rPr lang="en-US" sz="20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86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82DD69-8014-94BD-2A28-C759C883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431853"/>
              </p:ext>
            </p:extLst>
          </p:nvPr>
        </p:nvGraphicFramePr>
        <p:xfrm>
          <a:off x="2297151" y="645827"/>
          <a:ext cx="6802244" cy="571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586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2702174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2548484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</a:tblGrid>
              <a:tr h="476547">
                <a:tc>
                  <a:txBody>
                    <a:bodyPr/>
                    <a:lstStyle/>
                    <a:p>
                      <a:r>
                        <a:rPr lang="en-US" sz="16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Equipment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</a:t>
                      </a:r>
                      <a:r>
                        <a:rPr lang="en-US" sz="2000" dirty="0" err="1"/>
                        <a:t>Resourse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Start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  <a:tr h="476547">
                <a:tc>
                  <a:txBody>
                    <a:bodyPr/>
                    <a:lstStyle/>
                    <a:p>
                      <a:r>
                        <a:rPr lang="en-US" sz="2000" dirty="0"/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AssignEquipment*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84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71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7203</TotalTime>
  <Words>901</Words>
  <Application>Microsoft Office PowerPoint</Application>
  <PresentationFormat>Widescreen</PresentationFormat>
  <Paragraphs>259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Firat, Murat</dc:creator>
  <cp:lastModifiedBy>Firat, Murat</cp:lastModifiedBy>
  <cp:revision>13</cp:revision>
  <dcterms:created xsi:type="dcterms:W3CDTF">2026-07-10T14:53:59Z</dcterms:created>
  <dcterms:modified xsi:type="dcterms:W3CDTF">2026-07-23T18:49:23Z</dcterms:modified>
</cp:coreProperties>
</file>